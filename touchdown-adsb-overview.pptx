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measures where each landing touched down and how fast, using only the surveillance data (ADS-B) that every airliner already broadcasts — with an honest, calibrated confidence attached to every estimate. It exists so overrun-risk monitoring can cover essentially all landings instead of only the recorder-equipped subset.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Runway excursions are consistently among the top categories of serious commercial accidents. The two measurable precursors are long touchdowns and fast touchdowns. Today those can only be measured on flights whose recorder (QAR) data is available and shared — a minority, unevenly distributed. The dot grid is illustrative, not a measured fraction.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ADS-B is broadcast by every airliner about every 4-5 seconds and recorded fleet-wide — no new collection needed. If touchdown can be inferred from it, risk monitoring covers essentially all landings. Touchdown isn't in the data directly; we reconstruct it, and we can grade ourselves because 40,500 flights have matched recorder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pathologies: (1) at landing speed the aircraft covers ~900 ft between reports and touchdown always falls between two of them; (2) the aircraft's own on-ground flag transitions late and inconsistently, so it can only bound the answer; (3) position and speed messages carry different timestamps — merging them naively injects an error (~130 m at approach speed) comparable to what we're measuring.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method estimates the *time* of touchdown to sub-second precision; position follows by interpolating the trajectory at that time and projecting onto the runway. Seven estimators across three families run on each landing; a calibrated fusion combines them, down-weighting methods that look unreliable for that specific flight. Different methods fail on different landings — the ensemble is what controls the long-landing tail that drives overrun risk.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trust pillars: (1) 40,500 recorder-matched flights as an answer key, with leakage-controlled splits so no airframe appears in both training and test; (2) confidence intervals conformally recalibrated so 90% empirically means ~90%; (3) an interpretable physics estimate accompanies every learned estimate; (4) insufficient data yields an explicit 'no estimate' with a reason code — a confident wrong answer is the most dangerous output a safety system can produce.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is code-complete with a 460-test suite covering 23 formal correctness properties. Accuracy targets are deliberately provisional: the next step is running the recorder-matched corpus to characterize the error floor imposed by the 4-5 s reporting cadence, then ratifying the 250 ft RMSE target. The payoff is overrun-risk monitoring across all operations with honest per-landing confidence.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Freeform 1"/>
          <p:cNvSpPr/>
          <p:nvPr/>
        </p:nvSpPr>
        <p:spPr>
          <a:xfrm>
            <a:off x="5486400" y="914400"/>
            <a:ext cx="2743200" cy="3657600"/>
          </a:xfrm>
          <a:custGeom>
            <a:avLst/>
            <a:gdLst/>
            <a:ahLst/>
            <a:cxnLst/>
            <a:rect l="l" t="t" r="r" b="b"/>
            <a:pathLst>
              <a:path w="3" h="4">
                <a:moveTo>
                  <a:pt x="0" y="4"/>
                </a:moveTo>
                <a:lnTo>
                  <a:pt x="3" y="4"/>
                </a:lnTo>
                <a:lnTo>
                  <a:pt x="2" y="0"/>
                </a:lnTo>
                <a:lnTo>
                  <a:pt x="1" y="0"/>
                </a:lnTo>
                <a:lnTo>
                  <a:pt x="0" y="4"/>
                </a:lnTo>
                <a:close/>
              </a:path>
            </a:pathLst>
          </a:custGeom>
          <a:solidFill>
            <a:srgbClr val="2A38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81792" y="4302709"/>
            <a:ext cx="43854" cy="3186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84901" y="3552901"/>
            <a:ext cx="37636" cy="3186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88010" y="2803093"/>
            <a:ext cx="31418" cy="3186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91119" y="2053285"/>
            <a:ext cx="25200" cy="3186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94228" y="1303477"/>
            <a:ext cx="18982" cy="3186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44162" y="4333890"/>
            <a:ext cx="38404" cy="137525"/>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24873" y="4333890"/>
            <a:ext cx="38404" cy="137525"/>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265675" y="4709079"/>
            <a:ext cx="49537" cy="49537"/>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492227" y="4709079"/>
            <a:ext cx="49537" cy="49537"/>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18838" y="3849692"/>
            <a:ext cx="43754" cy="43754"/>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44847" y="3849692"/>
            <a:ext cx="43754" cy="43754"/>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772001" y="2990305"/>
            <a:ext cx="37970" cy="3797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997468" y="2990305"/>
            <a:ext cx="37970" cy="3797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25164" y="2130917"/>
            <a:ext cx="32186" cy="3218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50088" y="2130917"/>
            <a:ext cx="32186" cy="3218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78327" y="1271530"/>
            <a:ext cx="26403" cy="26403"/>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502709" y="1271530"/>
            <a:ext cx="26403" cy="26403"/>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1143000"/>
            <a:ext cx="4754880" cy="1234440"/>
          </a:xfrm>
          <a:prstGeom prst="rect">
            <a:avLst/>
          </a:prstGeom>
          <a:noFill/>
        </p:spPr>
        <p:txBody>
          <a:bodyPr wrap="none" anchor="t" lIns="0" rIns="0" tIns="0" bIns="0">
            <a:spAutoFit/>
          </a:bodyPr>
          <a:lstStyle/>
          <a:p>
            <a:pPr algn="l">
              <a:lnSpc>
                <a:spcPct val="106000"/>
              </a:lnSpc>
              <a:spcAft>
                <a:spcPts val="0"/>
              </a:spcAft>
            </a:pPr>
            <a:r>
              <a:rPr sz="3600" b="1" i="0">
                <a:solidFill>
                  <a:srgbClr val="FFFFFF"/>
                </a:solidFill>
                <a:latin typeface="Arial"/>
              </a:rPr>
              <a:t>Touchdown Point</a:t>
            </a:r>
          </a:p>
          <a:p>
            <a:pPr algn="l">
              <a:lnSpc>
                <a:spcPct val="106000"/>
              </a:lnSpc>
              <a:spcAft>
                <a:spcPts val="0"/>
              </a:spcAft>
            </a:pPr>
            <a:r>
              <a:rPr sz="3600" b="1" i="0">
                <a:solidFill>
                  <a:srgbClr val="FFFFFF"/>
                </a:solidFill>
                <a:latin typeface="Arial"/>
              </a:rPr>
              <a:t>Inference from ADS-B</a:t>
            </a:r>
          </a:p>
        </p:txBody>
      </p:sp>
      <p:sp>
        <p:nvSpPr>
          <p:cNvPr id="21" name="TextBox 20"/>
          <p:cNvSpPr txBox="1"/>
          <p:nvPr/>
        </p:nvSpPr>
        <p:spPr>
          <a:xfrm>
            <a:off x="548640" y="2743200"/>
            <a:ext cx="4572000" cy="1005840"/>
          </a:xfrm>
          <a:prstGeom prst="rect">
            <a:avLst/>
          </a:prstGeom>
          <a:noFill/>
        </p:spPr>
        <p:txBody>
          <a:bodyPr wrap="square" anchor="t" lIns="0" rIns="0" tIns="0" bIns="0">
            <a:spAutoFit/>
          </a:bodyPr>
          <a:lstStyle/>
          <a:p>
            <a:pPr algn="l">
              <a:lnSpc>
                <a:spcPct val="125000"/>
              </a:lnSpc>
              <a:spcAft>
                <a:spcPts val="600"/>
              </a:spcAft>
            </a:pPr>
            <a:r>
              <a:rPr sz="1600" b="0" i="0">
                <a:solidFill>
                  <a:srgbClr val="CADCFC"/>
                </a:solidFill>
                <a:latin typeface="Arial"/>
              </a:rPr>
              <a:t>Fleet-wide landing-overrun risk monitoring, built from the data every aircraft already broadcasts.</a:t>
            </a:r>
          </a:p>
        </p:txBody>
      </p:sp>
      <p:sp>
        <p:nvSpPr>
          <p:cNvPr id="22" name="TextBox 21"/>
          <p:cNvSpPr txBox="1"/>
          <p:nvPr/>
        </p:nvSpPr>
        <p:spPr>
          <a:xfrm>
            <a:off x="548640" y="4343400"/>
            <a:ext cx="4572000" cy="365760"/>
          </a:xfrm>
          <a:prstGeom prst="rect">
            <a:avLst/>
          </a:prstGeom>
          <a:noFill/>
        </p:spPr>
        <p:txBody>
          <a:bodyPr wrap="square" anchor="t" lIns="0" rIns="0" tIns="0" bIns="0">
            <a:spAutoFit/>
          </a:bodyPr>
          <a:lstStyle/>
          <a:p>
            <a:pPr algn="l">
              <a:spcAft>
                <a:spcPts val="600"/>
              </a:spcAft>
            </a:pPr>
            <a:r>
              <a:rPr sz="1300" b="0" i="1">
                <a:solidFill>
                  <a:srgbClr val="A9B8D8"/>
                </a:solidFill>
                <a:latin typeface="Arial"/>
              </a:rPr>
              <a:t>Where the wheels touched  ·  how fast  ·  how sure we 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566928"/>
          </a:xfrm>
          <a:prstGeom prst="rect">
            <a:avLst/>
          </a:prstGeom>
          <a:noFill/>
        </p:spPr>
        <p:txBody>
          <a:bodyPr wrap="square" anchor="t" lIns="0" rIns="0" tIns="0" bIns="0">
            <a:spAutoFit/>
          </a:bodyPr>
          <a:lstStyle/>
          <a:p>
            <a:pPr algn="l">
              <a:spcAft>
                <a:spcPts val="600"/>
              </a:spcAft>
            </a:pPr>
            <a:r>
              <a:rPr sz="3200" b="1" i="0">
                <a:solidFill>
                  <a:srgbClr val="1E2761"/>
                </a:solidFill>
                <a:latin typeface="Arial"/>
              </a:rPr>
              <a:t>The problem</a:t>
            </a:r>
          </a:p>
        </p:txBody>
      </p:sp>
      <p:sp>
        <p:nvSpPr>
          <p:cNvPr id="3" name="TextBox 2"/>
          <p:cNvSpPr txBox="1"/>
          <p:nvPr/>
        </p:nvSpPr>
        <p:spPr>
          <a:xfrm>
            <a:off x="457200" y="859536"/>
            <a:ext cx="8229600" cy="310896"/>
          </a:xfrm>
          <a:prstGeom prst="rect">
            <a:avLst/>
          </a:prstGeom>
          <a:noFill/>
        </p:spPr>
        <p:txBody>
          <a:bodyPr wrap="square" anchor="t" lIns="0" rIns="0" tIns="0" bIns="0">
            <a:spAutoFit/>
          </a:bodyPr>
          <a:lstStyle/>
          <a:p>
            <a:pPr algn="l">
              <a:spcAft>
                <a:spcPts val="600"/>
              </a:spcAft>
            </a:pPr>
            <a:r>
              <a:rPr sz="1400" b="0" i="0">
                <a:solidFill>
                  <a:srgbClr val="5A6B8C"/>
                </a:solidFill>
                <a:latin typeface="Arial"/>
              </a:rPr>
              <a:t>Runway overruns are a leading serious-accident category — and today their precursors are measured on a fraction of flights.</a:t>
            </a:r>
          </a:p>
        </p:txBody>
      </p:sp>
      <p:sp>
        <p:nvSpPr>
          <p:cNvPr id="4" name="TextBox 3"/>
          <p:cNvSpPr txBox="1"/>
          <p:nvPr/>
        </p:nvSpPr>
        <p:spPr>
          <a:xfrm>
            <a:off x="457200" y="1481328"/>
            <a:ext cx="4480560" cy="3108960"/>
          </a:xfrm>
          <a:prstGeom prst="rect">
            <a:avLst/>
          </a:prstGeom>
          <a:noFill/>
        </p:spPr>
        <p:txBody>
          <a:bodyPr wrap="square" anchor="t" lIns="0" rIns="0" tIns="0" bIns="0">
            <a:spAutoFit/>
          </a:bodyPr>
          <a:lstStyle/>
          <a:p>
            <a:pPr algn="l" indent="-201168" marL="201168">
              <a:lnSpc>
                <a:spcPct val="112000"/>
              </a:lnSpc>
              <a:spcAft>
                <a:spcPts val="1400"/>
              </a:spcAft>
              <a:buFont typeface="Arial"/>
              <a:buChar char="–"/>
            </a:pPr>
            <a:r>
              <a:rPr sz="1400" b="1" i="0">
                <a:solidFill>
                  <a:srgbClr val="1E2761"/>
                </a:solidFill>
                <a:latin typeface="Arial"/>
              </a:rPr>
              <a:t>Two measurable precursors  —  </a:t>
            </a:r>
            <a:r>
              <a:rPr sz="1400" b="0" i="0">
                <a:solidFill>
                  <a:srgbClr val="22304A"/>
                </a:solidFill>
                <a:latin typeface="Arial"/>
              </a:rPr>
              <a:t>touching down too far along the runway, and touching down too fast. Both eat into the pavement left for stopping.</a:t>
            </a:r>
          </a:p>
          <a:p>
            <a:pPr algn="l" indent="-201168" marL="201168">
              <a:lnSpc>
                <a:spcPct val="112000"/>
              </a:lnSpc>
              <a:spcAft>
                <a:spcPts val="1400"/>
              </a:spcAft>
              <a:buFont typeface="Arial"/>
              <a:buChar char="–"/>
            </a:pPr>
            <a:r>
              <a:rPr sz="1400" b="1" i="0">
                <a:solidFill>
                  <a:srgbClr val="1E2761"/>
                </a:solidFill>
                <a:latin typeface="Arial"/>
              </a:rPr>
              <a:t>Today's measurement  —  </a:t>
            </a:r>
            <a:r>
              <a:rPr sz="1400" b="0" i="0">
                <a:solidFill>
                  <a:srgbClr val="22304A"/>
                </a:solidFill>
                <a:latin typeface="Arial"/>
              </a:rPr>
              <a:t>requires onboard recorder (QAR) downloads — available for a minority of operations, unevenly across fleets and operators.</a:t>
            </a:r>
          </a:p>
          <a:p>
            <a:pPr algn="l" indent="-201168" marL="201168">
              <a:lnSpc>
                <a:spcPct val="112000"/>
              </a:lnSpc>
              <a:spcAft>
                <a:spcPts val="1400"/>
              </a:spcAft>
              <a:buFont typeface="Arial"/>
              <a:buChar char="–"/>
            </a:pPr>
            <a:r>
              <a:rPr sz="1400" b="1" i="0">
                <a:solidFill>
                  <a:srgbClr val="1E2761"/>
                </a:solidFill>
                <a:latin typeface="Arial"/>
              </a:rPr>
              <a:t>The consequence  —  </a:t>
            </a:r>
            <a:r>
              <a:rPr sz="1400" b="0" i="0">
                <a:solidFill>
                  <a:srgbClr val="22304A"/>
                </a:solidFill>
                <a:latin typeface="Arial"/>
              </a:rPr>
              <a:t>most landings are invisible to overrun-risk analysis; the near-misses worth learning from go unexamined.</a:t>
            </a:r>
          </a:p>
        </p:txBody>
      </p:sp>
      <p:sp>
        <p:nvSpPr>
          <p:cNvPr id="5" name="Rounded Rectangle 4"/>
          <p:cNvSpPr/>
          <p:nvPr/>
        </p:nvSpPr>
        <p:spPr>
          <a:xfrm>
            <a:off x="5166360" y="1481328"/>
            <a:ext cx="3520440" cy="2788920"/>
          </a:xfrm>
          <a:prstGeom prst="roundRect">
            <a:avLst>
              <a:gd name="adj" fmla="val 6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49240" y="1664207"/>
            <a:ext cx="3200400" cy="274320"/>
          </a:xfrm>
          <a:prstGeom prst="rect">
            <a:avLst/>
          </a:prstGeom>
          <a:noFill/>
        </p:spPr>
        <p:txBody>
          <a:bodyPr wrap="square" anchor="t" lIns="0" rIns="0" tIns="0" bIns="0">
            <a:spAutoFit/>
          </a:bodyPr>
          <a:lstStyle/>
          <a:p>
            <a:pPr algn="l">
              <a:spcAft>
                <a:spcPts val="600"/>
              </a:spcAft>
            </a:pPr>
            <a:r>
              <a:rPr sz="1250" b="1" i="0">
                <a:solidFill>
                  <a:srgbClr val="22304A"/>
                </a:solidFill>
                <a:latin typeface="Arial"/>
              </a:rPr>
              <a:t>Landings measurable for overrun risk today</a:t>
            </a:r>
          </a:p>
        </p:txBody>
      </p:sp>
      <p:sp>
        <p:nvSpPr>
          <p:cNvPr id="7" name="Oval 6"/>
          <p:cNvSpPr/>
          <p:nvPr/>
        </p:nvSpPr>
        <p:spPr>
          <a:xfrm>
            <a:off x="5349240" y="2103120"/>
            <a:ext cx="214884" cy="21488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349240" y="2446020"/>
            <a:ext cx="214884" cy="21488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649163" y="2103120"/>
            <a:ext cx="214884" cy="21488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49163" y="2446020"/>
            <a:ext cx="214884" cy="21488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949086" y="2103120"/>
            <a:ext cx="214884" cy="21488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949086" y="2446020"/>
            <a:ext cx="214884" cy="214884"/>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49009" y="21031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49009" y="24460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48932" y="21031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48932" y="24460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48855" y="21031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848855" y="24460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48779" y="21031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48779" y="24460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448702" y="21031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448702" y="24460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748625" y="21031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48625" y="24460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048548" y="21031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8548" y="2446020"/>
            <a:ext cx="214884" cy="214884"/>
          </a:xfrm>
          <a:prstGeom prst="ellipse">
            <a:avLst/>
          </a:prstGeom>
          <a:solidFill>
            <a:srgbClr val="FFFFFF"/>
          </a:solidFill>
          <a:ln w="12700">
            <a:solidFill>
              <a:srgbClr val="5A6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49240" y="3154680"/>
            <a:ext cx="3200400" cy="685800"/>
          </a:xfrm>
          <a:prstGeom prst="rect">
            <a:avLst/>
          </a:prstGeom>
          <a:noFill/>
        </p:spPr>
        <p:txBody>
          <a:bodyPr wrap="square" anchor="t" lIns="0" rIns="0" tIns="0" bIns="0">
            <a:spAutoFit/>
          </a:bodyPr>
          <a:lstStyle/>
          <a:p>
            <a:pPr algn="l">
              <a:lnSpc>
                <a:spcPct val="115000"/>
              </a:lnSpc>
              <a:spcAft>
                <a:spcPts val="600"/>
              </a:spcAft>
            </a:pPr>
            <a:r>
              <a:rPr sz="1200" b="1" i="0">
                <a:solidFill>
                  <a:srgbClr val="1E2761"/>
                </a:solidFill>
                <a:latin typeface="Arial"/>
              </a:rPr>
              <a:t>Recorder-equipped &amp; shared </a:t>
            </a:r>
            <a:r>
              <a:rPr sz="1200" b="0" i="0">
                <a:solidFill>
                  <a:srgbClr val="5A6B8C"/>
                </a:solidFill>
                <a:latin typeface="Arial"/>
              </a:rPr>
              <a:t>(filled)  vs.  </a:t>
            </a:r>
            <a:r>
              <a:rPr sz="1200" b="1" i="0">
                <a:solidFill>
                  <a:srgbClr val="5A6B8C"/>
                </a:solidFill>
                <a:latin typeface="Arial"/>
              </a:rPr>
              <a:t>unmeasured </a:t>
            </a:r>
            <a:r>
              <a:rPr sz="1200" b="0" i="0">
                <a:solidFill>
                  <a:srgbClr val="5A6B8C"/>
                </a:solidFill>
                <a:latin typeface="Arial"/>
              </a:rPr>
              <a:t>(hollow) — illustrative proportions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566928"/>
          </a:xfrm>
          <a:prstGeom prst="rect">
            <a:avLst/>
          </a:prstGeom>
          <a:noFill/>
        </p:spPr>
        <p:txBody>
          <a:bodyPr wrap="square" anchor="t" lIns="0" rIns="0" tIns="0" bIns="0">
            <a:spAutoFit/>
          </a:bodyPr>
          <a:lstStyle/>
          <a:p>
            <a:pPr algn="l">
              <a:spcAft>
                <a:spcPts val="600"/>
              </a:spcAft>
            </a:pPr>
            <a:r>
              <a:rPr sz="3200" b="1" i="0">
                <a:solidFill>
                  <a:srgbClr val="1E2761"/>
                </a:solidFill>
                <a:latin typeface="Arial"/>
              </a:rPr>
              <a:t>The opportunity</a:t>
            </a:r>
          </a:p>
        </p:txBody>
      </p:sp>
      <p:sp>
        <p:nvSpPr>
          <p:cNvPr id="3" name="TextBox 2"/>
          <p:cNvSpPr txBox="1"/>
          <p:nvPr/>
        </p:nvSpPr>
        <p:spPr>
          <a:xfrm>
            <a:off x="457200" y="859536"/>
            <a:ext cx="8229600" cy="310896"/>
          </a:xfrm>
          <a:prstGeom prst="rect">
            <a:avLst/>
          </a:prstGeom>
          <a:noFill/>
        </p:spPr>
        <p:txBody>
          <a:bodyPr wrap="square" anchor="t" lIns="0" rIns="0" tIns="0" bIns="0">
            <a:spAutoFit/>
          </a:bodyPr>
          <a:lstStyle/>
          <a:p>
            <a:pPr algn="l">
              <a:spcAft>
                <a:spcPts val="600"/>
              </a:spcAft>
            </a:pPr>
            <a:r>
              <a:rPr sz="1400" b="0" i="0">
                <a:solidFill>
                  <a:srgbClr val="5A6B8C"/>
                </a:solidFill>
                <a:latin typeface="Arial"/>
              </a:rPr>
              <a:t>The data already exists — every airliner broadcasts its position and speed, and it's recorded fleet-wide.</a:t>
            </a:r>
          </a:p>
        </p:txBody>
      </p:sp>
      <p:sp>
        <p:nvSpPr>
          <p:cNvPr id="4" name="Rounded Rectangle 3"/>
          <p:cNvSpPr/>
          <p:nvPr/>
        </p:nvSpPr>
        <p:spPr>
          <a:xfrm>
            <a:off x="457200" y="1554480"/>
            <a:ext cx="2651760" cy="1554480"/>
          </a:xfrm>
          <a:prstGeom prst="roundRect">
            <a:avLst>
              <a:gd name="adj" fmla="val 7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719072"/>
            <a:ext cx="2322576" cy="1225295"/>
          </a:xfrm>
          <a:prstGeom prst="rect">
            <a:avLst/>
          </a:prstGeom>
          <a:noFill/>
        </p:spPr>
        <p:txBody>
          <a:bodyPr wrap="square" anchor="t" lIns="0" rIns="0" tIns="0" bIns="0">
            <a:spAutoFit/>
          </a:bodyPr>
          <a:lstStyle/>
          <a:p>
            <a:pPr algn="l">
              <a:lnSpc>
                <a:spcPct val="105000"/>
              </a:lnSpc>
              <a:spcAft>
                <a:spcPts val="400"/>
              </a:spcAft>
            </a:pPr>
            <a:r>
              <a:rPr sz="2800" b="1" i="0">
                <a:solidFill>
                  <a:srgbClr val="1E2761"/>
                </a:solidFill>
                <a:latin typeface="Arial"/>
              </a:rPr>
              <a:t>4–5 s</a:t>
            </a:r>
          </a:p>
          <a:p>
            <a:pPr algn="l">
              <a:lnSpc>
                <a:spcPct val="105000"/>
              </a:lnSpc>
              <a:spcAft>
                <a:spcPts val="400"/>
              </a:spcAft>
            </a:pPr>
            <a:r>
              <a:rPr sz="1350" b="1" i="0">
                <a:solidFill>
                  <a:srgbClr val="22304A"/>
                </a:solidFill>
                <a:latin typeface="Arial"/>
              </a:rPr>
              <a:t>ADS-B broadcast interval</a:t>
            </a:r>
          </a:p>
          <a:p>
            <a:pPr algn="l">
              <a:lnSpc>
                <a:spcPct val="105000"/>
              </a:lnSpc>
              <a:spcAft>
                <a:spcPts val="400"/>
              </a:spcAft>
            </a:pPr>
            <a:r>
              <a:rPr sz="1200" b="0" i="0">
                <a:solidFill>
                  <a:srgbClr val="5A6B8C"/>
                </a:solidFill>
                <a:latin typeface="Arial"/>
              </a:rPr>
              <a:t>Position, speed, altitude — for essentially every flight.</a:t>
            </a:r>
          </a:p>
        </p:txBody>
      </p:sp>
      <p:sp>
        <p:nvSpPr>
          <p:cNvPr id="6" name="Rounded Rectangle 5"/>
          <p:cNvSpPr/>
          <p:nvPr/>
        </p:nvSpPr>
        <p:spPr>
          <a:xfrm>
            <a:off x="457200" y="3401568"/>
            <a:ext cx="2651760" cy="1325880"/>
          </a:xfrm>
          <a:prstGeom prst="roundRect">
            <a:avLst>
              <a:gd name="adj" fmla="val 7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3566160"/>
            <a:ext cx="2322576" cy="996695"/>
          </a:xfrm>
          <a:prstGeom prst="rect">
            <a:avLst/>
          </a:prstGeom>
          <a:noFill/>
        </p:spPr>
        <p:txBody>
          <a:bodyPr wrap="square" anchor="t" lIns="0" rIns="0" tIns="0" bIns="0">
            <a:spAutoFit/>
          </a:bodyPr>
          <a:lstStyle/>
          <a:p>
            <a:pPr algn="l">
              <a:lnSpc>
                <a:spcPct val="105000"/>
              </a:lnSpc>
              <a:spcAft>
                <a:spcPts val="400"/>
              </a:spcAft>
            </a:pPr>
            <a:r>
              <a:rPr sz="2800" b="1" i="0">
                <a:solidFill>
                  <a:srgbClr val="1E2761"/>
                </a:solidFill>
                <a:latin typeface="Arial"/>
              </a:rPr>
              <a:t>$0</a:t>
            </a:r>
          </a:p>
          <a:p>
            <a:pPr algn="l">
              <a:lnSpc>
                <a:spcPct val="105000"/>
              </a:lnSpc>
              <a:spcAft>
                <a:spcPts val="400"/>
              </a:spcAft>
            </a:pPr>
            <a:r>
              <a:rPr sz="1350" b="1" i="0">
                <a:solidFill>
                  <a:srgbClr val="22304A"/>
                </a:solidFill>
                <a:latin typeface="Arial"/>
              </a:rPr>
              <a:t>New collection cost</a:t>
            </a:r>
          </a:p>
          <a:p>
            <a:pPr algn="l">
              <a:lnSpc>
                <a:spcPct val="105000"/>
              </a:lnSpc>
              <a:spcAft>
                <a:spcPts val="400"/>
              </a:spcAft>
            </a:pPr>
            <a:r>
              <a:rPr sz="1200" b="0" i="0">
                <a:solidFill>
                  <a:srgbClr val="5A6B8C"/>
                </a:solidFill>
                <a:latin typeface="Arial"/>
              </a:rPr>
              <a:t>Already recorded at scale.</a:t>
            </a:r>
          </a:p>
        </p:txBody>
      </p:sp>
      <p:sp>
        <p:nvSpPr>
          <p:cNvPr id="8" name="TextBox 7"/>
          <p:cNvSpPr txBox="1"/>
          <p:nvPr/>
        </p:nvSpPr>
        <p:spPr>
          <a:xfrm>
            <a:off x="3520440" y="1600200"/>
            <a:ext cx="5166360" cy="3200400"/>
          </a:xfrm>
          <a:prstGeom prst="rect">
            <a:avLst/>
          </a:prstGeom>
          <a:noFill/>
        </p:spPr>
        <p:txBody>
          <a:bodyPr wrap="square" anchor="t" lIns="0" rIns="0" tIns="0" bIns="0">
            <a:spAutoFit/>
          </a:bodyPr>
          <a:lstStyle/>
          <a:p>
            <a:pPr algn="l" indent="-201168" marL="201168">
              <a:lnSpc>
                <a:spcPct val="112000"/>
              </a:lnSpc>
              <a:spcAft>
                <a:spcPts val="1400"/>
              </a:spcAft>
              <a:buFont typeface="Arial"/>
              <a:buChar char="–"/>
            </a:pPr>
            <a:r>
              <a:rPr sz="1400" b="1" i="0">
                <a:solidFill>
                  <a:srgbClr val="1E2761"/>
                </a:solidFill>
                <a:latin typeface="Arial"/>
              </a:rPr>
              <a:t>The idea  —  </a:t>
            </a:r>
            <a:r>
              <a:rPr sz="1400" b="0" i="0">
                <a:solidFill>
                  <a:srgbClr val="22304A"/>
                </a:solidFill>
                <a:latin typeface="Arial"/>
              </a:rPr>
              <a:t>if touchdown can be inferred from ADS-B, overrun-risk monitoring extends from the recorder-equipped subset to essentially all landings.</a:t>
            </a:r>
          </a:p>
          <a:p>
            <a:pPr algn="l" indent="-201168" marL="201168">
              <a:lnSpc>
                <a:spcPct val="112000"/>
              </a:lnSpc>
              <a:spcAft>
                <a:spcPts val="1400"/>
              </a:spcAft>
              <a:buFont typeface="Arial"/>
              <a:buChar char="–"/>
            </a:pPr>
            <a:r>
              <a:rPr sz="1400" b="1" i="0">
                <a:solidFill>
                  <a:srgbClr val="1E2761"/>
                </a:solidFill>
                <a:latin typeface="Arial"/>
              </a:rPr>
              <a:t>The catch  —  </a:t>
            </a:r>
            <a:r>
              <a:rPr sz="1400" b="0" i="0">
                <a:solidFill>
                  <a:srgbClr val="22304A"/>
                </a:solidFill>
                <a:latin typeface="Arial"/>
              </a:rPr>
              <a:t>touchdown is never directly reported in ADS-B — it has to be reconstructed from the trajectory.</a:t>
            </a:r>
          </a:p>
          <a:p>
            <a:pPr algn="l" indent="-201168" marL="201168">
              <a:lnSpc>
                <a:spcPct val="112000"/>
              </a:lnSpc>
              <a:spcAft>
                <a:spcPts val="1400"/>
              </a:spcAft>
              <a:buFont typeface="Arial"/>
              <a:buChar char="–"/>
            </a:pPr>
            <a:r>
              <a:rPr sz="1400" b="1" i="0">
                <a:solidFill>
                  <a:srgbClr val="1E2761"/>
                </a:solidFill>
                <a:latin typeface="Arial"/>
              </a:rPr>
              <a:t>The answer key  —  </a:t>
            </a:r>
            <a:r>
              <a:rPr sz="1400" b="0" i="0">
                <a:solidFill>
                  <a:srgbClr val="22304A"/>
                </a:solidFill>
                <a:latin typeface="Arial"/>
              </a:rPr>
              <a:t>40,500 flights with matched recorder data give ground truth to calibrate against and to grade every accuracy claim.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566928"/>
          </a:xfrm>
          <a:prstGeom prst="rect">
            <a:avLst/>
          </a:prstGeom>
          <a:noFill/>
        </p:spPr>
        <p:txBody>
          <a:bodyPr wrap="square" anchor="t" lIns="0" rIns="0" tIns="0" bIns="0">
            <a:spAutoFit/>
          </a:bodyPr>
          <a:lstStyle/>
          <a:p>
            <a:pPr algn="l">
              <a:spcAft>
                <a:spcPts val="600"/>
              </a:spcAft>
            </a:pPr>
            <a:r>
              <a:rPr sz="3200" b="1" i="0">
                <a:solidFill>
                  <a:srgbClr val="1E2761"/>
                </a:solidFill>
                <a:latin typeface="Arial"/>
              </a:rPr>
              <a:t>Why it's hard</a:t>
            </a:r>
          </a:p>
        </p:txBody>
      </p:sp>
      <p:sp>
        <p:nvSpPr>
          <p:cNvPr id="3" name="TextBox 2"/>
          <p:cNvSpPr txBox="1"/>
          <p:nvPr/>
        </p:nvSpPr>
        <p:spPr>
          <a:xfrm>
            <a:off x="457200" y="859536"/>
            <a:ext cx="8229600" cy="310896"/>
          </a:xfrm>
          <a:prstGeom prst="rect">
            <a:avLst/>
          </a:prstGeom>
          <a:noFill/>
        </p:spPr>
        <p:txBody>
          <a:bodyPr wrap="square" anchor="t" lIns="0" rIns="0" tIns="0" bIns="0">
            <a:spAutoFit/>
          </a:bodyPr>
          <a:lstStyle/>
          <a:p>
            <a:pPr algn="l">
              <a:spcAft>
                <a:spcPts val="600"/>
              </a:spcAft>
            </a:pPr>
            <a:r>
              <a:rPr sz="1400" b="0" i="0">
                <a:solidFill>
                  <a:srgbClr val="5A6B8C"/>
                </a:solidFill>
                <a:latin typeface="Arial"/>
              </a:rPr>
              <a:t>The data was built for air-traffic awareness, not for pinpointing touchdown.</a:t>
            </a:r>
          </a:p>
        </p:txBody>
      </p:sp>
      <p:sp>
        <p:nvSpPr>
          <p:cNvPr id="4" name="Rounded Rectangle 3"/>
          <p:cNvSpPr/>
          <p:nvPr/>
        </p:nvSpPr>
        <p:spPr>
          <a:xfrm>
            <a:off x="457200" y="1481328"/>
            <a:ext cx="3977639" cy="3200400"/>
          </a:xfrm>
          <a:prstGeom prst="roundRect">
            <a:avLst>
              <a:gd name="adj" fmla="val 5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4041648"/>
            <a:ext cx="3474720" cy="2743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978408" y="2029967"/>
            <a:ext cx="566928" cy="429769"/>
          </a:xfrm>
          <a:prstGeom prst="line">
            <a:avLst/>
          </a:prstGeom>
          <a:ln w="12700">
            <a:solidFill>
              <a:srgbClr val="5A6B8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545336" y="2459736"/>
            <a:ext cx="566928" cy="429767"/>
          </a:xfrm>
          <a:prstGeom prst="line">
            <a:avLst/>
          </a:prstGeom>
          <a:ln w="12700">
            <a:solidFill>
              <a:srgbClr val="5A6B8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112264" y="2889503"/>
            <a:ext cx="566927" cy="429769"/>
          </a:xfrm>
          <a:prstGeom prst="line">
            <a:avLst/>
          </a:prstGeom>
          <a:ln w="12700">
            <a:solidFill>
              <a:srgbClr val="5A6B8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679191" y="3319272"/>
            <a:ext cx="566929" cy="429768"/>
          </a:xfrm>
          <a:prstGeom prst="line">
            <a:avLst/>
          </a:prstGeom>
          <a:ln w="12700">
            <a:solidFill>
              <a:srgbClr val="5A6B8C"/>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14400" y="1965960"/>
            <a:ext cx="128016" cy="12801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81328" y="2395728"/>
            <a:ext cx="128016" cy="12801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048256" y="2825496"/>
            <a:ext cx="128016" cy="12801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615184" y="3255264"/>
            <a:ext cx="128016" cy="12801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182112" y="3685032"/>
            <a:ext cx="128016" cy="12801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03320" y="3899915"/>
            <a:ext cx="128016" cy="12801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041648" y="3899915"/>
            <a:ext cx="128016" cy="128016"/>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456432" y="3899915"/>
            <a:ext cx="137160" cy="13716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77440" y="4224528"/>
            <a:ext cx="2011680" cy="274320"/>
          </a:xfrm>
          <a:prstGeom prst="rect">
            <a:avLst/>
          </a:prstGeom>
          <a:noFill/>
        </p:spPr>
        <p:txBody>
          <a:bodyPr wrap="square" anchor="t" lIns="0" rIns="0" tIns="0" bIns="0">
            <a:spAutoFit/>
          </a:bodyPr>
          <a:lstStyle/>
          <a:p>
            <a:pPr algn="ctr">
              <a:spcAft>
                <a:spcPts val="600"/>
              </a:spcAft>
            </a:pPr>
            <a:r>
              <a:rPr sz="1100" b="1" i="1">
                <a:solidFill>
                  <a:srgbClr val="E8A33D"/>
                </a:solidFill>
                <a:latin typeface="Arial"/>
              </a:rPr>
              <a:t>touchdown: between reports</a:t>
            </a:r>
          </a:p>
        </p:txBody>
      </p:sp>
      <p:sp>
        <p:nvSpPr>
          <p:cNvPr id="19" name="TextBox 18"/>
          <p:cNvSpPr txBox="1"/>
          <p:nvPr/>
        </p:nvSpPr>
        <p:spPr>
          <a:xfrm>
            <a:off x="713232" y="1627632"/>
            <a:ext cx="3474720" cy="274320"/>
          </a:xfrm>
          <a:prstGeom prst="rect">
            <a:avLst/>
          </a:prstGeom>
          <a:noFill/>
        </p:spPr>
        <p:txBody>
          <a:bodyPr wrap="square" anchor="t" lIns="0" rIns="0" tIns="0" bIns="0">
            <a:spAutoFit/>
          </a:bodyPr>
          <a:lstStyle/>
          <a:p>
            <a:pPr algn="l">
              <a:spcAft>
                <a:spcPts val="600"/>
              </a:spcAft>
            </a:pPr>
            <a:r>
              <a:rPr sz="1250" b="1" i="0">
                <a:solidFill>
                  <a:srgbClr val="22304A"/>
                </a:solidFill>
                <a:latin typeface="Arial"/>
              </a:rPr>
              <a:t>ADS-B reports every 4–5 s</a:t>
            </a:r>
          </a:p>
        </p:txBody>
      </p:sp>
      <p:sp>
        <p:nvSpPr>
          <p:cNvPr id="20" name="Rounded Rectangle 19"/>
          <p:cNvSpPr/>
          <p:nvPr/>
        </p:nvSpPr>
        <p:spPr>
          <a:xfrm>
            <a:off x="4663440" y="1517904"/>
            <a:ext cx="4023360" cy="978408"/>
          </a:xfrm>
          <a:prstGeom prst="roundRect">
            <a:avLst>
              <a:gd name="adj" fmla="val 9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28032" y="1645919"/>
            <a:ext cx="3694176" cy="758952"/>
          </a:xfrm>
          <a:prstGeom prst="rect">
            <a:avLst/>
          </a:prstGeom>
          <a:noFill/>
        </p:spPr>
        <p:txBody>
          <a:bodyPr wrap="square" anchor="t" lIns="0" rIns="0" tIns="0" bIns="0">
            <a:spAutoFit/>
          </a:bodyPr>
          <a:lstStyle/>
          <a:p>
            <a:pPr algn="l">
              <a:lnSpc>
                <a:spcPct val="108000"/>
              </a:lnSpc>
              <a:spcAft>
                <a:spcPts val="400"/>
              </a:spcAft>
            </a:pPr>
            <a:r>
              <a:rPr sz="1700" b="1" i="0">
                <a:solidFill>
                  <a:srgbClr val="1E2761"/>
                </a:solidFill>
                <a:latin typeface="Arial"/>
              </a:rPr>
              <a:t>≈ 900 ft</a:t>
            </a:r>
            <a:r>
              <a:rPr sz="1250" b="1" i="0">
                <a:solidFill>
                  <a:srgbClr val="22304A"/>
                </a:solidFill>
                <a:latin typeface="Arial"/>
              </a:rPr>
              <a:t>   between consecutive reports</a:t>
            </a:r>
          </a:p>
          <a:p>
            <a:pPr algn="l">
              <a:lnSpc>
                <a:spcPct val="108000"/>
              </a:lnSpc>
              <a:spcAft>
                <a:spcPts val="400"/>
              </a:spcAft>
            </a:pPr>
            <a:r>
              <a:rPr sz="1150" b="0" i="0">
                <a:solidFill>
                  <a:srgbClr val="5A6B8C"/>
                </a:solidFill>
                <a:latin typeface="Arial"/>
              </a:rPr>
              <a:t>About three football fields at landing speed — touchdown almost never falls on a report.</a:t>
            </a:r>
          </a:p>
        </p:txBody>
      </p:sp>
      <p:sp>
        <p:nvSpPr>
          <p:cNvPr id="22" name="Rounded Rectangle 21"/>
          <p:cNvSpPr/>
          <p:nvPr/>
        </p:nvSpPr>
        <p:spPr>
          <a:xfrm>
            <a:off x="4663440" y="2624328"/>
            <a:ext cx="4023360" cy="978408"/>
          </a:xfrm>
          <a:prstGeom prst="roundRect">
            <a:avLst>
              <a:gd name="adj" fmla="val 9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28032" y="2752344"/>
            <a:ext cx="3694176" cy="758952"/>
          </a:xfrm>
          <a:prstGeom prst="rect">
            <a:avLst/>
          </a:prstGeom>
          <a:noFill/>
        </p:spPr>
        <p:txBody>
          <a:bodyPr wrap="square" anchor="t" lIns="0" rIns="0" tIns="0" bIns="0">
            <a:spAutoFit/>
          </a:bodyPr>
          <a:lstStyle/>
          <a:p>
            <a:pPr algn="l">
              <a:lnSpc>
                <a:spcPct val="108000"/>
              </a:lnSpc>
              <a:spcAft>
                <a:spcPts val="400"/>
              </a:spcAft>
            </a:pPr>
            <a:r>
              <a:rPr sz="1700" b="1" i="0">
                <a:solidFill>
                  <a:srgbClr val="1E2761"/>
                </a:solidFill>
                <a:latin typeface="Arial"/>
              </a:rPr>
              <a:t>late &amp; variable</a:t>
            </a:r>
            <a:r>
              <a:rPr sz="1250" b="1" i="0">
                <a:solidFill>
                  <a:srgbClr val="22304A"/>
                </a:solidFill>
                <a:latin typeface="Arial"/>
              </a:rPr>
              <a:t>   the on-ground flag</a:t>
            </a:r>
          </a:p>
          <a:p>
            <a:pPr algn="l">
              <a:lnSpc>
                <a:spcPct val="108000"/>
              </a:lnSpc>
              <a:spcAft>
                <a:spcPts val="400"/>
              </a:spcAft>
            </a:pPr>
            <a:r>
              <a:rPr sz="1150" b="0" i="0">
                <a:solidFill>
                  <a:srgbClr val="5A6B8C"/>
                </a:solidFill>
                <a:latin typeface="Arial"/>
              </a:rPr>
              <a:t>It flips after real touchdown — a sanity bound, never the answer.</a:t>
            </a:r>
          </a:p>
        </p:txBody>
      </p:sp>
      <p:sp>
        <p:nvSpPr>
          <p:cNvPr id="24" name="Rounded Rectangle 23"/>
          <p:cNvSpPr/>
          <p:nvPr/>
        </p:nvSpPr>
        <p:spPr>
          <a:xfrm>
            <a:off x="4663440" y="3730752"/>
            <a:ext cx="4023360" cy="978408"/>
          </a:xfrm>
          <a:prstGeom prst="roundRect">
            <a:avLst>
              <a:gd name="adj" fmla="val 9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032" y="3858768"/>
            <a:ext cx="3694176" cy="758952"/>
          </a:xfrm>
          <a:prstGeom prst="rect">
            <a:avLst/>
          </a:prstGeom>
          <a:noFill/>
        </p:spPr>
        <p:txBody>
          <a:bodyPr wrap="square" anchor="t" lIns="0" rIns="0" tIns="0" bIns="0">
            <a:spAutoFit/>
          </a:bodyPr>
          <a:lstStyle/>
          <a:p>
            <a:pPr algn="l">
              <a:lnSpc>
                <a:spcPct val="108000"/>
              </a:lnSpc>
              <a:spcAft>
                <a:spcPts val="400"/>
              </a:spcAft>
            </a:pPr>
            <a:r>
              <a:rPr sz="1700" b="1" i="0">
                <a:solidFill>
                  <a:srgbClr val="1E2761"/>
                </a:solidFill>
                <a:latin typeface="Arial"/>
              </a:rPr>
              <a:t>2 clocks</a:t>
            </a:r>
            <a:r>
              <a:rPr sz="1250" b="1" i="0">
                <a:solidFill>
                  <a:srgbClr val="22304A"/>
                </a:solidFill>
                <a:latin typeface="Arial"/>
              </a:rPr>
              <a:t>   position vs. speed timestamps</a:t>
            </a:r>
          </a:p>
          <a:p>
            <a:pPr algn="l">
              <a:lnSpc>
                <a:spcPct val="108000"/>
              </a:lnSpc>
              <a:spcAft>
                <a:spcPts val="400"/>
              </a:spcAft>
            </a:pPr>
            <a:r>
              <a:rPr sz="1150" b="0" i="0">
                <a:solidFill>
                  <a:srgbClr val="5A6B8C"/>
                </a:solidFill>
                <a:latin typeface="Arial"/>
              </a:rPr>
              <a:t>Merging them naïvely injects up to ~430 ft of error — as large as the answer itself.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566928"/>
          </a:xfrm>
          <a:prstGeom prst="rect">
            <a:avLst/>
          </a:prstGeom>
          <a:noFill/>
        </p:spPr>
        <p:txBody>
          <a:bodyPr wrap="square" anchor="t" lIns="0" rIns="0" tIns="0" bIns="0">
            <a:spAutoFit/>
          </a:bodyPr>
          <a:lstStyle/>
          <a:p>
            <a:pPr algn="l">
              <a:spcAft>
                <a:spcPts val="600"/>
              </a:spcAft>
            </a:pPr>
            <a:r>
              <a:rPr sz="3200" b="1" i="0">
                <a:solidFill>
                  <a:srgbClr val="1E2761"/>
                </a:solidFill>
                <a:latin typeface="Arial"/>
              </a:rPr>
              <a:t>The approach</a:t>
            </a:r>
          </a:p>
        </p:txBody>
      </p:sp>
      <p:sp>
        <p:nvSpPr>
          <p:cNvPr id="3" name="TextBox 2"/>
          <p:cNvSpPr txBox="1"/>
          <p:nvPr/>
        </p:nvSpPr>
        <p:spPr>
          <a:xfrm>
            <a:off x="457200" y="859536"/>
            <a:ext cx="8229600" cy="310896"/>
          </a:xfrm>
          <a:prstGeom prst="rect">
            <a:avLst/>
          </a:prstGeom>
          <a:noFill/>
        </p:spPr>
        <p:txBody>
          <a:bodyPr wrap="square" anchor="t" lIns="0" rIns="0" tIns="0" bIns="0">
            <a:spAutoFit/>
          </a:bodyPr>
          <a:lstStyle/>
          <a:p>
            <a:pPr algn="l">
              <a:spcAft>
                <a:spcPts val="600"/>
              </a:spcAft>
            </a:pPr>
            <a:r>
              <a:rPr sz="1400" b="0" i="0">
                <a:solidFill>
                  <a:srgbClr val="5A6B8C"/>
                </a:solidFill>
                <a:latin typeface="Arial"/>
              </a:rPr>
              <a:t>Estimate the time of touchdown to sub-second precision, then map time to a runway position.</a:t>
            </a:r>
          </a:p>
        </p:txBody>
      </p:sp>
      <p:sp>
        <p:nvSpPr>
          <p:cNvPr id="4" name="Rounded Rectangle 3"/>
          <p:cNvSpPr/>
          <p:nvPr/>
        </p:nvSpPr>
        <p:spPr>
          <a:xfrm>
            <a:off x="457200" y="1554480"/>
            <a:ext cx="2651760" cy="1371600"/>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700784"/>
            <a:ext cx="2322576" cy="292608"/>
          </a:xfrm>
          <a:prstGeom prst="rect">
            <a:avLst/>
          </a:prstGeom>
          <a:noFill/>
        </p:spPr>
        <p:txBody>
          <a:bodyPr wrap="square" anchor="t" lIns="0" rIns="0" tIns="0" bIns="0">
            <a:spAutoFit/>
          </a:bodyPr>
          <a:lstStyle/>
          <a:p>
            <a:pPr algn="l">
              <a:spcAft>
                <a:spcPts val="600"/>
              </a:spcAft>
            </a:pPr>
            <a:r>
              <a:rPr sz="1600" b="1" i="0">
                <a:solidFill>
                  <a:srgbClr val="1E2761"/>
                </a:solidFill>
                <a:latin typeface="Arial"/>
              </a:rPr>
              <a:t>Physics</a:t>
            </a:r>
          </a:p>
        </p:txBody>
      </p:sp>
      <p:sp>
        <p:nvSpPr>
          <p:cNvPr id="6" name="TextBox 5"/>
          <p:cNvSpPr txBox="1"/>
          <p:nvPr/>
        </p:nvSpPr>
        <p:spPr>
          <a:xfrm>
            <a:off x="621792" y="2011680"/>
            <a:ext cx="2322576" cy="822960"/>
          </a:xfrm>
          <a:prstGeom prst="rect">
            <a:avLst/>
          </a:prstGeom>
          <a:noFill/>
        </p:spPr>
        <p:txBody>
          <a:bodyPr wrap="square" anchor="t" lIns="0" rIns="0" tIns="0" bIns="0">
            <a:spAutoFit/>
          </a:bodyPr>
          <a:lstStyle/>
          <a:p>
            <a:pPr algn="l">
              <a:lnSpc>
                <a:spcPct val="110000"/>
              </a:lnSpc>
              <a:spcAft>
                <a:spcPts val="600"/>
              </a:spcAft>
            </a:pPr>
            <a:r>
              <a:rPr sz="1150" b="0" i="0">
                <a:solidFill>
                  <a:srgbClr val="5A6B8C"/>
                </a:solidFill>
                <a:latin typeface="Arial"/>
              </a:rPr>
              <a:t>Deceleration knee, descent-curve crossing, tracking filter — interpretable, explainable to regulators.</a:t>
            </a:r>
          </a:p>
        </p:txBody>
      </p:sp>
      <p:sp>
        <p:nvSpPr>
          <p:cNvPr id="7" name="Rounded Rectangle 6"/>
          <p:cNvSpPr/>
          <p:nvPr/>
        </p:nvSpPr>
        <p:spPr>
          <a:xfrm>
            <a:off x="3246120" y="1554480"/>
            <a:ext cx="2651760" cy="1371600"/>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10712" y="1700784"/>
            <a:ext cx="2322576" cy="292608"/>
          </a:xfrm>
          <a:prstGeom prst="rect">
            <a:avLst/>
          </a:prstGeom>
          <a:noFill/>
        </p:spPr>
        <p:txBody>
          <a:bodyPr wrap="square" anchor="t" lIns="0" rIns="0" tIns="0" bIns="0">
            <a:spAutoFit/>
          </a:bodyPr>
          <a:lstStyle/>
          <a:p>
            <a:pPr algn="l">
              <a:spcAft>
                <a:spcPts val="600"/>
              </a:spcAft>
            </a:pPr>
            <a:r>
              <a:rPr sz="1600" b="1" i="0">
                <a:solidFill>
                  <a:srgbClr val="1E2761"/>
                </a:solidFill>
                <a:latin typeface="Arial"/>
              </a:rPr>
              <a:t>Change-point</a:t>
            </a:r>
          </a:p>
        </p:txBody>
      </p:sp>
      <p:sp>
        <p:nvSpPr>
          <p:cNvPr id="9" name="TextBox 8"/>
          <p:cNvSpPr txBox="1"/>
          <p:nvPr/>
        </p:nvSpPr>
        <p:spPr>
          <a:xfrm>
            <a:off x="3410712" y="2011680"/>
            <a:ext cx="2322576" cy="822960"/>
          </a:xfrm>
          <a:prstGeom prst="rect">
            <a:avLst/>
          </a:prstGeom>
          <a:noFill/>
        </p:spPr>
        <p:txBody>
          <a:bodyPr wrap="square" anchor="t" lIns="0" rIns="0" tIns="0" bIns="0">
            <a:spAutoFit/>
          </a:bodyPr>
          <a:lstStyle/>
          <a:p>
            <a:pPr algn="l">
              <a:lnSpc>
                <a:spcPct val="110000"/>
              </a:lnSpc>
              <a:spcAft>
                <a:spcPts val="600"/>
              </a:spcAft>
            </a:pPr>
            <a:r>
              <a:rPr sz="1150" b="0" i="0">
                <a:solidFill>
                  <a:srgbClr val="5A6B8C"/>
                </a:solidFill>
                <a:latin typeface="Arial"/>
              </a:rPr>
              <a:t>Statistical detection of the instant the motion switches from flying to rolling.</a:t>
            </a:r>
          </a:p>
        </p:txBody>
      </p:sp>
      <p:sp>
        <p:nvSpPr>
          <p:cNvPr id="10" name="Rounded Rectangle 9"/>
          <p:cNvSpPr/>
          <p:nvPr/>
        </p:nvSpPr>
        <p:spPr>
          <a:xfrm>
            <a:off x="6035040" y="1554480"/>
            <a:ext cx="2651760" cy="1371600"/>
          </a:xfrm>
          <a:prstGeom prst="roundRect">
            <a:avLst>
              <a:gd name="adj" fmla="val 8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9631" y="1700784"/>
            <a:ext cx="2322576" cy="292608"/>
          </a:xfrm>
          <a:prstGeom prst="rect">
            <a:avLst/>
          </a:prstGeom>
          <a:noFill/>
        </p:spPr>
        <p:txBody>
          <a:bodyPr wrap="square" anchor="t" lIns="0" rIns="0" tIns="0" bIns="0">
            <a:spAutoFit/>
          </a:bodyPr>
          <a:lstStyle/>
          <a:p>
            <a:pPr algn="l">
              <a:spcAft>
                <a:spcPts val="600"/>
              </a:spcAft>
            </a:pPr>
            <a:r>
              <a:rPr sz="1600" b="1" i="0">
                <a:solidFill>
                  <a:srgbClr val="1E2761"/>
                </a:solidFill>
                <a:latin typeface="Arial"/>
              </a:rPr>
              <a:t>Learned</a:t>
            </a:r>
          </a:p>
        </p:txBody>
      </p:sp>
      <p:sp>
        <p:nvSpPr>
          <p:cNvPr id="12" name="TextBox 11"/>
          <p:cNvSpPr txBox="1"/>
          <p:nvPr/>
        </p:nvSpPr>
        <p:spPr>
          <a:xfrm>
            <a:off x="6199631" y="2011680"/>
            <a:ext cx="2322576" cy="822960"/>
          </a:xfrm>
          <a:prstGeom prst="rect">
            <a:avLst/>
          </a:prstGeom>
          <a:noFill/>
        </p:spPr>
        <p:txBody>
          <a:bodyPr wrap="square" anchor="t" lIns="0" rIns="0" tIns="0" bIns="0">
            <a:spAutoFit/>
          </a:bodyPr>
          <a:lstStyle/>
          <a:p>
            <a:pPr algn="l">
              <a:lnSpc>
                <a:spcPct val="110000"/>
              </a:lnSpc>
              <a:spcAft>
                <a:spcPts val="600"/>
              </a:spcAft>
            </a:pPr>
            <a:r>
              <a:rPr sz="1150" b="0" i="0">
                <a:solidFill>
                  <a:srgbClr val="5A6B8C"/>
                </a:solidFill>
                <a:latin typeface="Arial"/>
              </a:rPr>
              <a:t>Models trained on 40,500 recorder-matched landings — the expected accuracy leader.</a:t>
            </a:r>
          </a:p>
        </p:txBody>
      </p:sp>
      <p:sp>
        <p:nvSpPr>
          <p:cNvPr id="13" name="Down Arrow 12"/>
          <p:cNvSpPr/>
          <p:nvPr/>
        </p:nvSpPr>
        <p:spPr>
          <a:xfrm>
            <a:off x="1700784" y="2999232"/>
            <a:ext cx="164592" cy="274320"/>
          </a:xfrm>
          <a:prstGeom prst="downArrow">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wn Arrow 13"/>
          <p:cNvSpPr/>
          <p:nvPr/>
        </p:nvSpPr>
        <p:spPr>
          <a:xfrm>
            <a:off x="4489704" y="2999232"/>
            <a:ext cx="164592" cy="274320"/>
          </a:xfrm>
          <a:prstGeom prst="downArrow">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wn Arrow 14"/>
          <p:cNvSpPr/>
          <p:nvPr/>
        </p:nvSpPr>
        <p:spPr>
          <a:xfrm>
            <a:off x="7278624" y="2999232"/>
            <a:ext cx="164592" cy="274320"/>
          </a:xfrm>
          <a:prstGeom prst="downArrow">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7200" y="3401568"/>
            <a:ext cx="8229600" cy="658368"/>
          </a:xfrm>
          <a:prstGeom prst="roundRect">
            <a:avLst>
              <a:gd name="adj" fmla="val 12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401568"/>
            <a:ext cx="7680960" cy="658368"/>
          </a:xfrm>
          <a:prstGeom prst="rect">
            <a:avLst/>
          </a:prstGeom>
          <a:noFill/>
        </p:spPr>
        <p:txBody>
          <a:bodyPr wrap="square" anchor="ctr" lIns="0" rIns="0" tIns="0" bIns="0">
            <a:spAutoFit/>
          </a:bodyPr>
          <a:lstStyle/>
          <a:p>
            <a:pPr algn="l">
              <a:lnSpc>
                <a:spcPct val="105000"/>
              </a:lnSpc>
              <a:spcAft>
                <a:spcPts val="600"/>
              </a:spcAft>
            </a:pPr>
            <a:r>
              <a:rPr sz="1500" b="1" i="0">
                <a:solidFill>
                  <a:srgbClr val="FFFFFF"/>
                </a:solidFill>
                <a:latin typeface="Arial"/>
              </a:rPr>
              <a:t>Calibrated fusion</a:t>
            </a:r>
            <a:r>
              <a:rPr sz="1250" b="0" i="0">
                <a:solidFill>
                  <a:srgbClr val="CADCFC"/>
                </a:solidFill>
                <a:latin typeface="Arial"/>
              </a:rPr>
              <a:t>  —  blends all methods, down-weighting whichever look unreliable on each specific landing</a:t>
            </a:r>
          </a:p>
        </p:txBody>
      </p:sp>
      <p:sp>
        <p:nvSpPr>
          <p:cNvPr id="18" name="Down Arrow 17"/>
          <p:cNvSpPr/>
          <p:nvPr/>
        </p:nvSpPr>
        <p:spPr>
          <a:xfrm>
            <a:off x="4489704" y="4059936"/>
            <a:ext cx="164592" cy="237744"/>
          </a:xfrm>
          <a:prstGeom prst="downArrow">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352544"/>
            <a:ext cx="8229600" cy="502920"/>
          </a:xfrm>
          <a:prstGeom prst="rect">
            <a:avLst/>
          </a:prstGeom>
          <a:noFill/>
        </p:spPr>
        <p:txBody>
          <a:bodyPr wrap="square" anchor="t" lIns="0" rIns="0" tIns="0" bIns="0">
            <a:spAutoFit/>
          </a:bodyPr>
          <a:lstStyle/>
          <a:p>
            <a:pPr algn="ctr">
              <a:spcAft>
                <a:spcPts val="600"/>
              </a:spcAft>
            </a:pPr>
            <a:r>
              <a:rPr sz="1400" b="1" i="0">
                <a:solidFill>
                  <a:srgbClr val="22304A"/>
                </a:solidFill>
                <a:latin typeface="Arial"/>
              </a:rPr>
              <a:t>Output:  </a:t>
            </a:r>
            <a:r>
              <a:rPr sz="1400" b="0" i="0">
                <a:solidFill>
                  <a:srgbClr val="22304A"/>
                </a:solidFill>
                <a:latin typeface="Arial"/>
              </a:rPr>
              <a:t>touchdown point (ft from threshold), touchdown speed — each with a calibrated confidence interval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92608"/>
            <a:ext cx="8229600" cy="566928"/>
          </a:xfrm>
          <a:prstGeom prst="rect">
            <a:avLst/>
          </a:prstGeom>
          <a:noFill/>
        </p:spPr>
        <p:txBody>
          <a:bodyPr wrap="square" anchor="t" lIns="0" rIns="0" tIns="0" bIns="0">
            <a:spAutoFit/>
          </a:bodyPr>
          <a:lstStyle/>
          <a:p>
            <a:pPr algn="l">
              <a:spcAft>
                <a:spcPts val="600"/>
              </a:spcAft>
            </a:pPr>
            <a:r>
              <a:rPr sz="3200" b="1" i="0">
                <a:solidFill>
                  <a:srgbClr val="1E2761"/>
                </a:solidFill>
                <a:latin typeface="Arial"/>
              </a:rPr>
              <a:t>Why to trust it</a:t>
            </a:r>
          </a:p>
        </p:txBody>
      </p:sp>
      <p:sp>
        <p:nvSpPr>
          <p:cNvPr id="3" name="TextBox 2"/>
          <p:cNvSpPr txBox="1"/>
          <p:nvPr/>
        </p:nvSpPr>
        <p:spPr>
          <a:xfrm>
            <a:off x="457200" y="859536"/>
            <a:ext cx="8229600" cy="310896"/>
          </a:xfrm>
          <a:prstGeom prst="rect">
            <a:avLst/>
          </a:prstGeom>
          <a:noFill/>
        </p:spPr>
        <p:txBody>
          <a:bodyPr wrap="square" anchor="t" lIns="0" rIns="0" tIns="0" bIns="0">
            <a:spAutoFit/>
          </a:bodyPr>
          <a:lstStyle/>
          <a:p>
            <a:pPr algn="l">
              <a:spcAft>
                <a:spcPts val="600"/>
              </a:spcAft>
            </a:pPr>
            <a:r>
              <a:rPr sz="1400" b="0" i="0">
                <a:solidFill>
                  <a:srgbClr val="5A6B8C"/>
                </a:solidFill>
                <a:latin typeface="Arial"/>
              </a:rPr>
              <a:t>Designed for a safety case, not just accuracy: graded, calibrated, explainable, and honest about failure.</a:t>
            </a:r>
          </a:p>
        </p:txBody>
      </p:sp>
      <p:sp>
        <p:nvSpPr>
          <p:cNvPr id="4" name="Rounded Rectangle 3"/>
          <p:cNvSpPr/>
          <p:nvPr/>
        </p:nvSpPr>
        <p:spPr>
          <a:xfrm>
            <a:off x="457200" y="1517904"/>
            <a:ext cx="4023360" cy="1481328"/>
          </a:xfrm>
          <a:prstGeom prst="roundRect">
            <a:avLst>
              <a:gd name="adj" fmla="val 7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682495"/>
            <a:ext cx="3694176" cy="1152144"/>
          </a:xfrm>
          <a:prstGeom prst="rect">
            <a:avLst/>
          </a:prstGeom>
          <a:noFill/>
        </p:spPr>
        <p:txBody>
          <a:bodyPr wrap="square" anchor="t" lIns="0" rIns="0" tIns="0" bIns="0">
            <a:spAutoFit/>
          </a:bodyPr>
          <a:lstStyle/>
          <a:p>
            <a:pPr algn="l">
              <a:lnSpc>
                <a:spcPct val="105000"/>
              </a:lnSpc>
              <a:spcAft>
                <a:spcPts val="400"/>
              </a:spcAft>
            </a:pPr>
            <a:r>
              <a:rPr sz="2400" b="1" i="0">
                <a:solidFill>
                  <a:srgbClr val="1E2761"/>
                </a:solidFill>
                <a:latin typeface="Arial"/>
              </a:rPr>
              <a:t>40,500</a:t>
            </a:r>
          </a:p>
          <a:p>
            <a:pPr algn="l">
              <a:lnSpc>
                <a:spcPct val="105000"/>
              </a:lnSpc>
              <a:spcAft>
                <a:spcPts val="400"/>
              </a:spcAft>
            </a:pPr>
            <a:r>
              <a:rPr sz="1350" b="1" i="0">
                <a:solidFill>
                  <a:srgbClr val="22304A"/>
                </a:solidFill>
                <a:latin typeface="Arial"/>
              </a:rPr>
              <a:t>flights of ground truth</a:t>
            </a:r>
          </a:p>
          <a:p>
            <a:pPr algn="l">
              <a:lnSpc>
                <a:spcPct val="105000"/>
              </a:lnSpc>
              <a:spcAft>
                <a:spcPts val="400"/>
              </a:spcAft>
            </a:pPr>
            <a:r>
              <a:rPr sz="1200" b="0" i="0">
                <a:solidFill>
                  <a:srgbClr val="5A6B8C"/>
                </a:solidFill>
                <a:latin typeface="Arial"/>
              </a:rPr>
              <a:t>Every method is graded against recorder data, with leakage-controlled train/test splits (no aircraft appears on both sides).</a:t>
            </a:r>
          </a:p>
        </p:txBody>
      </p:sp>
      <p:sp>
        <p:nvSpPr>
          <p:cNvPr id="6" name="Rounded Rectangle 5"/>
          <p:cNvSpPr/>
          <p:nvPr/>
        </p:nvSpPr>
        <p:spPr>
          <a:xfrm>
            <a:off x="4663440" y="1517904"/>
            <a:ext cx="4023360" cy="1481328"/>
          </a:xfrm>
          <a:prstGeom prst="roundRect">
            <a:avLst>
              <a:gd name="adj" fmla="val 7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8031" y="1682495"/>
            <a:ext cx="3694176" cy="1152144"/>
          </a:xfrm>
          <a:prstGeom prst="rect">
            <a:avLst/>
          </a:prstGeom>
          <a:noFill/>
        </p:spPr>
        <p:txBody>
          <a:bodyPr wrap="square" anchor="t" lIns="0" rIns="0" tIns="0" bIns="0">
            <a:spAutoFit/>
          </a:bodyPr>
          <a:lstStyle/>
          <a:p>
            <a:pPr algn="l">
              <a:lnSpc>
                <a:spcPct val="105000"/>
              </a:lnSpc>
              <a:spcAft>
                <a:spcPts val="400"/>
              </a:spcAft>
            </a:pPr>
            <a:r>
              <a:rPr sz="2400" b="1" i="0">
                <a:solidFill>
                  <a:srgbClr val="1E2761"/>
                </a:solidFill>
                <a:latin typeface="Arial"/>
              </a:rPr>
              <a:t>90% ≈ 90%</a:t>
            </a:r>
          </a:p>
          <a:p>
            <a:pPr algn="l">
              <a:lnSpc>
                <a:spcPct val="105000"/>
              </a:lnSpc>
              <a:spcAft>
                <a:spcPts val="400"/>
              </a:spcAft>
            </a:pPr>
            <a:r>
              <a:rPr sz="1350" b="1" i="0">
                <a:solidFill>
                  <a:srgbClr val="22304A"/>
                </a:solidFill>
                <a:latin typeface="Arial"/>
              </a:rPr>
              <a:t>calibrated confidence</a:t>
            </a:r>
          </a:p>
          <a:p>
            <a:pPr algn="l">
              <a:lnSpc>
                <a:spcPct val="105000"/>
              </a:lnSpc>
              <a:spcAft>
                <a:spcPts val="400"/>
              </a:spcAft>
            </a:pPr>
            <a:r>
              <a:rPr sz="1200" b="0" i="0">
                <a:solidFill>
                  <a:srgbClr val="5A6B8C"/>
                </a:solidFill>
                <a:latin typeface="Arial"/>
              </a:rPr>
              <a:t>Intervals are recalibrated on held-out data so stated confidence matches reality — verified, not assumed.</a:t>
            </a:r>
          </a:p>
        </p:txBody>
      </p:sp>
      <p:sp>
        <p:nvSpPr>
          <p:cNvPr id="8" name="Rounded Rectangle 7"/>
          <p:cNvSpPr/>
          <p:nvPr/>
        </p:nvSpPr>
        <p:spPr>
          <a:xfrm>
            <a:off x="457200" y="3182112"/>
            <a:ext cx="4023360" cy="1481328"/>
          </a:xfrm>
          <a:prstGeom prst="roundRect">
            <a:avLst>
              <a:gd name="adj" fmla="val 7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3346704"/>
            <a:ext cx="3694176" cy="1152144"/>
          </a:xfrm>
          <a:prstGeom prst="rect">
            <a:avLst/>
          </a:prstGeom>
          <a:noFill/>
        </p:spPr>
        <p:txBody>
          <a:bodyPr wrap="square" anchor="t" lIns="0" rIns="0" tIns="0" bIns="0">
            <a:spAutoFit/>
          </a:bodyPr>
          <a:lstStyle/>
          <a:p>
            <a:pPr algn="l">
              <a:lnSpc>
                <a:spcPct val="105000"/>
              </a:lnSpc>
              <a:spcAft>
                <a:spcPts val="400"/>
              </a:spcAft>
            </a:pPr>
            <a:r>
              <a:rPr sz="2400" b="1" i="0">
                <a:solidFill>
                  <a:srgbClr val="1E2761"/>
                </a:solidFill>
                <a:latin typeface="Arial"/>
              </a:rPr>
              <a:t>2 answers</a:t>
            </a:r>
          </a:p>
          <a:p>
            <a:pPr algn="l">
              <a:lnSpc>
                <a:spcPct val="105000"/>
              </a:lnSpc>
              <a:spcAft>
                <a:spcPts val="400"/>
              </a:spcAft>
            </a:pPr>
            <a:r>
              <a:rPr sz="1350" b="1" i="0">
                <a:solidFill>
                  <a:srgbClr val="22304A"/>
                </a:solidFill>
                <a:latin typeface="Arial"/>
              </a:rPr>
              <a:t>every estimate is explainable</a:t>
            </a:r>
          </a:p>
          <a:p>
            <a:pPr algn="l">
              <a:lnSpc>
                <a:spcPct val="105000"/>
              </a:lnSpc>
              <a:spcAft>
                <a:spcPts val="400"/>
              </a:spcAft>
            </a:pPr>
            <a:r>
              <a:rPr sz="1200" b="0" i="0">
                <a:solidFill>
                  <a:srgbClr val="5A6B8C"/>
                </a:solidFill>
                <a:latin typeface="Arial"/>
              </a:rPr>
              <a:t>Each machine-learned estimate ships with an interpretable physics estimate beside it, for regulators and analysts.</a:t>
            </a:r>
          </a:p>
        </p:txBody>
      </p:sp>
      <p:sp>
        <p:nvSpPr>
          <p:cNvPr id="10" name="Rounded Rectangle 9"/>
          <p:cNvSpPr/>
          <p:nvPr/>
        </p:nvSpPr>
        <p:spPr>
          <a:xfrm>
            <a:off x="4663440" y="3182112"/>
            <a:ext cx="4023360" cy="1481328"/>
          </a:xfrm>
          <a:prstGeom prst="roundRect">
            <a:avLst>
              <a:gd name="adj" fmla="val 7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28031" y="3346704"/>
            <a:ext cx="3694176" cy="1152144"/>
          </a:xfrm>
          <a:prstGeom prst="rect">
            <a:avLst/>
          </a:prstGeom>
          <a:noFill/>
        </p:spPr>
        <p:txBody>
          <a:bodyPr wrap="square" anchor="t" lIns="0" rIns="0" tIns="0" bIns="0">
            <a:spAutoFit/>
          </a:bodyPr>
          <a:lstStyle/>
          <a:p>
            <a:pPr algn="l">
              <a:lnSpc>
                <a:spcPct val="105000"/>
              </a:lnSpc>
              <a:spcAft>
                <a:spcPts val="400"/>
              </a:spcAft>
            </a:pPr>
            <a:r>
              <a:rPr sz="2400" b="1" i="0">
                <a:solidFill>
                  <a:srgbClr val="1E2761"/>
                </a:solidFill>
                <a:latin typeface="Arial"/>
              </a:rPr>
              <a:t>0 guesses</a:t>
            </a:r>
          </a:p>
          <a:p>
            <a:pPr algn="l">
              <a:lnSpc>
                <a:spcPct val="105000"/>
              </a:lnSpc>
              <a:spcAft>
                <a:spcPts val="400"/>
              </a:spcAft>
            </a:pPr>
            <a:r>
              <a:rPr sz="1350" b="1" i="0">
                <a:solidFill>
                  <a:srgbClr val="22304A"/>
                </a:solidFill>
                <a:latin typeface="Arial"/>
              </a:rPr>
              <a:t>fails loudly, never silently</a:t>
            </a:r>
          </a:p>
          <a:p>
            <a:pPr algn="l">
              <a:lnSpc>
                <a:spcPct val="105000"/>
              </a:lnSpc>
              <a:spcAft>
                <a:spcPts val="400"/>
              </a:spcAft>
            </a:pPr>
            <a:r>
              <a:rPr sz="1200" b="0" i="0">
                <a:solidFill>
                  <a:srgbClr val="5A6B8C"/>
                </a:solidFill>
                <a:latin typeface="Arial"/>
              </a:rPr>
              <a:t>When data is insufficient the system says “no estimate” with a machine-readable reason — it never fabricates an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365760"/>
            <a:ext cx="8229600" cy="566928"/>
          </a:xfrm>
          <a:prstGeom prst="rect">
            <a:avLst/>
          </a:prstGeom>
          <a:noFill/>
        </p:spPr>
        <p:txBody>
          <a:bodyPr wrap="square" anchor="t" lIns="0" rIns="0" tIns="0" bIns="0">
            <a:spAutoFit/>
          </a:bodyPr>
          <a:lstStyle/>
          <a:p>
            <a:pPr algn="l">
              <a:spcAft>
                <a:spcPts val="600"/>
              </a:spcAft>
            </a:pPr>
            <a:r>
              <a:rPr sz="3200" b="1" i="0">
                <a:solidFill>
                  <a:srgbClr val="FFFFFF"/>
                </a:solidFill>
                <a:latin typeface="Arial"/>
              </a:rPr>
              <a:t>Status &amp; next step</a:t>
            </a:r>
          </a:p>
        </p:txBody>
      </p:sp>
      <p:sp>
        <p:nvSpPr>
          <p:cNvPr id="3" name="TextBox 2"/>
          <p:cNvSpPr txBox="1"/>
          <p:nvPr/>
        </p:nvSpPr>
        <p:spPr>
          <a:xfrm>
            <a:off x="457200" y="932688"/>
            <a:ext cx="8229600" cy="320040"/>
          </a:xfrm>
          <a:prstGeom prst="rect">
            <a:avLst/>
          </a:prstGeom>
          <a:noFill/>
        </p:spPr>
        <p:txBody>
          <a:bodyPr wrap="square" anchor="t" lIns="0" rIns="0" tIns="0" bIns="0">
            <a:spAutoFit/>
          </a:bodyPr>
          <a:lstStyle/>
          <a:p>
            <a:pPr algn="l">
              <a:spcAft>
                <a:spcPts val="600"/>
              </a:spcAft>
            </a:pPr>
            <a:r>
              <a:rPr sz="1400" b="0" i="0">
                <a:solidFill>
                  <a:srgbClr val="A9B8D8"/>
                </a:solidFill>
                <a:latin typeface="Arial"/>
              </a:rPr>
              <a:t>Built and tested end-to-end — the remaining step is empirical.</a:t>
            </a:r>
          </a:p>
        </p:txBody>
      </p:sp>
      <p:sp>
        <p:nvSpPr>
          <p:cNvPr id="4" name="Rounded Rectangle 3"/>
          <p:cNvSpPr/>
          <p:nvPr/>
        </p:nvSpPr>
        <p:spPr>
          <a:xfrm>
            <a:off x="457200" y="1481328"/>
            <a:ext cx="2651760" cy="1828800"/>
          </a:xfrm>
          <a:prstGeom prst="roundRect">
            <a:avLst>
              <a:gd name="adj" fmla="val 7000"/>
            </a:avLst>
          </a:prstGeom>
          <a:solidFill>
            <a:srgbClr val="2A38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64208"/>
            <a:ext cx="2286000" cy="1554480"/>
          </a:xfrm>
          <a:prstGeom prst="rect">
            <a:avLst/>
          </a:prstGeom>
          <a:noFill/>
        </p:spPr>
        <p:txBody>
          <a:bodyPr wrap="square" anchor="t" lIns="0" rIns="0" tIns="0" bIns="0">
            <a:spAutoFit/>
          </a:bodyPr>
          <a:lstStyle/>
          <a:p>
            <a:pPr algn="l">
              <a:lnSpc>
                <a:spcPct val="108000"/>
              </a:lnSpc>
              <a:spcAft>
                <a:spcPts val="500"/>
              </a:spcAft>
            </a:pPr>
            <a:r>
              <a:rPr sz="3400" b="1" i="0">
                <a:solidFill>
                  <a:srgbClr val="E8A33D"/>
                </a:solidFill>
                <a:latin typeface="Arial"/>
              </a:rPr>
              <a:t>460</a:t>
            </a:r>
          </a:p>
          <a:p>
            <a:pPr algn="l">
              <a:lnSpc>
                <a:spcPct val="108000"/>
              </a:lnSpc>
              <a:spcAft>
                <a:spcPts val="500"/>
              </a:spcAft>
            </a:pPr>
            <a:r>
              <a:rPr sz="1300" b="1" i="0">
                <a:solidFill>
                  <a:srgbClr val="FFFFFF"/>
                </a:solidFill>
                <a:latin typeface="Arial"/>
              </a:rPr>
              <a:t>automated tests passing</a:t>
            </a:r>
          </a:p>
          <a:p>
            <a:pPr algn="l">
              <a:lnSpc>
                <a:spcPct val="108000"/>
              </a:lnSpc>
              <a:spcAft>
                <a:spcPts val="500"/>
              </a:spcAft>
            </a:pPr>
            <a:r>
              <a:rPr sz="1100" b="0" i="0">
                <a:solidFill>
                  <a:srgbClr val="A9B8D8"/>
                </a:solidFill>
                <a:latin typeface="Arial"/>
              </a:rPr>
              <a:t>Full pipeline: ingestion, quality gates, estimators, fusion, calibrated uncertainty, validation harness.</a:t>
            </a:r>
          </a:p>
        </p:txBody>
      </p:sp>
      <p:sp>
        <p:nvSpPr>
          <p:cNvPr id="6" name="Rounded Rectangle 5"/>
          <p:cNvSpPr/>
          <p:nvPr/>
        </p:nvSpPr>
        <p:spPr>
          <a:xfrm>
            <a:off x="3246120" y="1481328"/>
            <a:ext cx="2651760" cy="1828800"/>
          </a:xfrm>
          <a:prstGeom prst="roundRect">
            <a:avLst>
              <a:gd name="adj" fmla="val 7000"/>
            </a:avLst>
          </a:prstGeom>
          <a:solidFill>
            <a:srgbClr val="2A38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29000" y="1664208"/>
            <a:ext cx="2286000" cy="1554480"/>
          </a:xfrm>
          <a:prstGeom prst="rect">
            <a:avLst/>
          </a:prstGeom>
          <a:noFill/>
        </p:spPr>
        <p:txBody>
          <a:bodyPr wrap="square" anchor="t" lIns="0" rIns="0" tIns="0" bIns="0">
            <a:spAutoFit/>
          </a:bodyPr>
          <a:lstStyle/>
          <a:p>
            <a:pPr algn="l">
              <a:lnSpc>
                <a:spcPct val="108000"/>
              </a:lnSpc>
              <a:spcAft>
                <a:spcPts val="500"/>
              </a:spcAft>
            </a:pPr>
            <a:r>
              <a:rPr sz="3400" b="1" i="0">
                <a:solidFill>
                  <a:srgbClr val="E8A33D"/>
                </a:solidFill>
                <a:latin typeface="Arial"/>
              </a:rPr>
              <a:t>7</a:t>
            </a:r>
          </a:p>
          <a:p>
            <a:pPr algn="l">
              <a:lnSpc>
                <a:spcPct val="108000"/>
              </a:lnSpc>
              <a:spcAft>
                <a:spcPts val="500"/>
              </a:spcAft>
            </a:pPr>
            <a:r>
              <a:rPr sz="1300" b="1" i="0">
                <a:solidFill>
                  <a:srgbClr val="FFFFFF"/>
                </a:solidFill>
                <a:latin typeface="Arial"/>
              </a:rPr>
              <a:t>estimation methods fused</a:t>
            </a:r>
          </a:p>
          <a:p>
            <a:pPr algn="l">
              <a:lnSpc>
                <a:spcPct val="108000"/>
              </a:lnSpc>
              <a:spcAft>
                <a:spcPts val="500"/>
              </a:spcAft>
            </a:pPr>
            <a:r>
              <a:rPr sz="1100" b="0" i="0">
                <a:solidFill>
                  <a:srgbClr val="A9B8D8"/>
                </a:solidFill>
                <a:latin typeface="Arial"/>
              </a:rPr>
              <a:t>Physics, change-point, and learned families — with per-landing reliability weighting.</a:t>
            </a:r>
          </a:p>
        </p:txBody>
      </p:sp>
      <p:sp>
        <p:nvSpPr>
          <p:cNvPr id="8" name="Rounded Rectangle 7"/>
          <p:cNvSpPr/>
          <p:nvPr/>
        </p:nvSpPr>
        <p:spPr>
          <a:xfrm>
            <a:off x="6035040" y="1481328"/>
            <a:ext cx="2651760" cy="1828800"/>
          </a:xfrm>
          <a:prstGeom prst="roundRect">
            <a:avLst>
              <a:gd name="adj" fmla="val 7000"/>
            </a:avLst>
          </a:prstGeom>
          <a:solidFill>
            <a:srgbClr val="2A38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664208"/>
            <a:ext cx="2286000" cy="1554480"/>
          </a:xfrm>
          <a:prstGeom prst="rect">
            <a:avLst/>
          </a:prstGeom>
          <a:noFill/>
        </p:spPr>
        <p:txBody>
          <a:bodyPr wrap="square" anchor="t" lIns="0" rIns="0" tIns="0" bIns="0">
            <a:spAutoFit/>
          </a:bodyPr>
          <a:lstStyle/>
          <a:p>
            <a:pPr algn="l">
              <a:lnSpc>
                <a:spcPct val="108000"/>
              </a:lnSpc>
              <a:spcAft>
                <a:spcPts val="500"/>
              </a:spcAft>
            </a:pPr>
            <a:r>
              <a:rPr sz="3400" b="1" i="0">
                <a:solidFill>
                  <a:srgbClr val="E8A33D"/>
                </a:solidFill>
                <a:latin typeface="Arial"/>
              </a:rPr>
              <a:t>250 ft</a:t>
            </a:r>
          </a:p>
          <a:p>
            <a:pPr algn="l">
              <a:lnSpc>
                <a:spcPct val="108000"/>
              </a:lnSpc>
              <a:spcAft>
                <a:spcPts val="500"/>
              </a:spcAft>
            </a:pPr>
            <a:r>
              <a:rPr sz="1300" b="1" i="0">
                <a:solidFill>
                  <a:srgbClr val="FFFFFF"/>
                </a:solidFill>
                <a:latin typeface="Arial"/>
              </a:rPr>
              <a:t>provisional accuracy target</a:t>
            </a:r>
          </a:p>
          <a:p>
            <a:pPr algn="l">
              <a:lnSpc>
                <a:spcPct val="108000"/>
              </a:lnSpc>
              <a:spcAft>
                <a:spcPts val="500"/>
              </a:spcAft>
            </a:pPr>
            <a:r>
              <a:rPr sz="1100" b="0" i="0">
                <a:solidFill>
                  <a:srgbClr val="A9B8D8"/>
                </a:solidFill>
                <a:latin typeface="Arial"/>
              </a:rPr>
              <a:t>RMSE on touchdown point — held provisional until real-data runs ratify it.</a:t>
            </a:r>
          </a:p>
        </p:txBody>
      </p:sp>
      <p:sp>
        <p:nvSpPr>
          <p:cNvPr id="10" name="TextBox 9"/>
          <p:cNvSpPr txBox="1"/>
          <p:nvPr/>
        </p:nvSpPr>
        <p:spPr>
          <a:xfrm>
            <a:off x="457200" y="3657600"/>
            <a:ext cx="8229600" cy="365760"/>
          </a:xfrm>
          <a:prstGeom prst="rect">
            <a:avLst/>
          </a:prstGeom>
          <a:noFill/>
        </p:spPr>
        <p:txBody>
          <a:bodyPr wrap="square" anchor="t" lIns="0" rIns="0" tIns="0" bIns="0">
            <a:spAutoFit/>
          </a:bodyPr>
          <a:lstStyle/>
          <a:p>
            <a:pPr algn="l">
              <a:spcAft>
                <a:spcPts val="600"/>
              </a:spcAft>
            </a:pPr>
            <a:r>
              <a:rPr sz="1500" b="1" i="0">
                <a:solidFill>
                  <a:srgbClr val="E8A33D"/>
                </a:solidFill>
                <a:latin typeface="Arial"/>
              </a:rPr>
              <a:t>Next:  </a:t>
            </a:r>
            <a:r>
              <a:rPr sz="1500" b="0" i="0">
                <a:solidFill>
                  <a:srgbClr val="FFFFFF"/>
                </a:solidFill>
                <a:latin typeface="Arial"/>
              </a:rPr>
              <a:t>run the 40,500-flight corpus  →  measure the accuracy floor set by the 4–5 s data cadence  →  ratify the targets</a:t>
            </a:r>
          </a:p>
        </p:txBody>
      </p:sp>
      <p:sp>
        <p:nvSpPr>
          <p:cNvPr id="11" name="TextBox 10"/>
          <p:cNvSpPr txBox="1"/>
          <p:nvPr/>
        </p:nvSpPr>
        <p:spPr>
          <a:xfrm>
            <a:off x="457200" y="4160520"/>
            <a:ext cx="8229600" cy="685800"/>
          </a:xfrm>
          <a:prstGeom prst="rect">
            <a:avLst/>
          </a:prstGeom>
          <a:noFill/>
        </p:spPr>
        <p:txBody>
          <a:bodyPr wrap="square" anchor="t" lIns="0" rIns="0" tIns="0" bIns="0">
            <a:spAutoFit/>
          </a:bodyPr>
          <a:lstStyle/>
          <a:p>
            <a:pPr algn="l">
              <a:lnSpc>
                <a:spcPct val="125000"/>
              </a:lnSpc>
              <a:spcAft>
                <a:spcPts val="600"/>
              </a:spcAft>
            </a:pPr>
            <a:r>
              <a:rPr sz="1350" b="0" i="0">
                <a:solidFill>
                  <a:srgbClr val="CADCFC"/>
                </a:solidFill>
                <a:latin typeface="Arial"/>
              </a:rPr>
              <a:t>The decision this enables: continuous, fleet-wide monitoring of landing-overrun risk across all operations — not just the recorder-equipped subset — with statistically honest per-landing confidence.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